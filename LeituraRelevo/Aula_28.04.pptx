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73" r:id="rId5"/>
    <p:sldId id="265" r:id="rId6"/>
    <p:sldId id="267" r:id="rId7"/>
    <p:sldId id="269" r:id="rId8"/>
    <p:sldId id="271" r:id="rId9"/>
    <p:sldId id="268" r:id="rId10"/>
    <p:sldId id="270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8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91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7876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77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6817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3992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565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44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7687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027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646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9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12DA1-4D32-4EC9-811A-89883B6B1E7E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7769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tinkercad.com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81693" y="990048"/>
            <a:ext cx="10877266" cy="2380169"/>
          </a:xfrm>
        </p:spPr>
        <p:txBody>
          <a:bodyPr>
            <a:normAutofit/>
          </a:bodyPr>
          <a:lstStyle/>
          <a:p>
            <a:r>
              <a:rPr lang="pt-BR" sz="3500" b="1" dirty="0" smtClean="0">
                <a:latin typeface="Gadugi" panose="020B0502040204020203" pitchFamily="34" charset="0"/>
                <a:ea typeface="Gadugi" panose="020B0502040204020203" pitchFamily="34" charset="0"/>
              </a:rPr>
              <a:t>Recursos Didáticos Tecnológicas </a:t>
            </a:r>
            <a:br>
              <a:rPr lang="pt-BR" sz="3500" b="1" dirty="0" smtClean="0">
                <a:latin typeface="Gadugi" panose="020B0502040204020203" pitchFamily="34" charset="0"/>
                <a:ea typeface="Gadugi" panose="020B0502040204020203" pitchFamily="34" charset="0"/>
              </a:rPr>
            </a:br>
            <a:r>
              <a:rPr lang="pt-BR" sz="3500" b="1" dirty="0" smtClean="0">
                <a:latin typeface="Gadugi" panose="020B0502040204020203" pitchFamily="34" charset="0"/>
                <a:ea typeface="Gadugi" panose="020B0502040204020203" pitchFamily="34" charset="0"/>
              </a:rPr>
              <a:t/>
            </a:r>
            <a:br>
              <a:rPr lang="pt-BR" sz="3500" b="1" dirty="0" smtClean="0">
                <a:latin typeface="Gadugi" panose="020B0502040204020203" pitchFamily="34" charset="0"/>
                <a:ea typeface="Gadugi" panose="020B0502040204020203" pitchFamily="34" charset="0"/>
              </a:rPr>
            </a:br>
            <a:r>
              <a:rPr lang="pt-BR" sz="3500" dirty="0" smtClean="0">
                <a:latin typeface="Gadugi" panose="020B0502040204020203" pitchFamily="34" charset="0"/>
                <a:ea typeface="Gadugi" panose="020B0502040204020203" pitchFamily="34" charset="0"/>
              </a:rPr>
              <a:t>Laboratório de Metodologias Ativas</a:t>
            </a:r>
            <a:endParaRPr lang="pt-BR" sz="3500" b="1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7315199" y="4258492"/>
            <a:ext cx="3553097" cy="701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000" dirty="0" smtClean="0">
                <a:latin typeface="Gadugi" panose="020B0502040204020203" pitchFamily="34" charset="0"/>
                <a:ea typeface="Gadugi" panose="020B0502040204020203" pitchFamily="34" charset="0"/>
              </a:rPr>
              <a:t>Prof. Dr.: Júlio Frantz</a:t>
            </a:r>
          </a:p>
          <a:p>
            <a:r>
              <a:rPr lang="pt-BR" sz="5000" dirty="0" smtClean="0">
                <a:latin typeface="Gadugi" panose="020B0502040204020203" pitchFamily="34" charset="0"/>
                <a:ea typeface="Gadugi" panose="020B0502040204020203" pitchFamily="34" charset="0"/>
              </a:rPr>
              <a:t>Dra.: Raquel Santos</a:t>
            </a:r>
            <a:endParaRPr lang="pt-BR" sz="5000" b="1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920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304800" y="744166"/>
            <a:ext cx="11655188" cy="1738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600" b="1" dirty="0" smtClean="0">
                <a:latin typeface="Gadugi" panose="020B0502040204020203" pitchFamily="34" charset="0"/>
                <a:ea typeface="Gadugi" panose="020B0502040204020203" pitchFamily="34" charset="0"/>
              </a:rPr>
              <a:t>Recursos Didáticos Tecnológicos</a:t>
            </a:r>
          </a:p>
          <a:p>
            <a:endParaRPr lang="pt-BR" sz="3600" dirty="0" smtClean="0"/>
          </a:p>
          <a:p>
            <a:endParaRPr lang="pt-BR" sz="3500" dirty="0" smtClean="0">
              <a:solidFill>
                <a:srgbClr val="FF0000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045" y="2043792"/>
            <a:ext cx="2857500" cy="2857500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>
          <a:xfrm>
            <a:off x="1873529" y="4762792"/>
            <a:ext cx="24209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 smtClean="0"/>
              <a:t>Manual  atividades </a:t>
            </a:r>
          </a:p>
          <a:p>
            <a:pPr algn="ctr"/>
            <a:r>
              <a:rPr lang="pt-BR" dirty="0" smtClean="0"/>
              <a:t>Lab. Metodologias</a:t>
            </a:r>
            <a:endParaRPr lang="pt-BR" sz="2400" dirty="0">
              <a:solidFill>
                <a:srgbClr val="FF0000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464" y="2043792"/>
            <a:ext cx="2857500" cy="2857500"/>
          </a:xfrm>
          <a:prstGeom prst="rect">
            <a:avLst/>
          </a:prstGeom>
        </p:spPr>
      </p:pic>
      <p:sp>
        <p:nvSpPr>
          <p:cNvPr id="10" name="Retângulo 9"/>
          <p:cNvSpPr/>
          <p:nvPr/>
        </p:nvSpPr>
        <p:spPr>
          <a:xfrm>
            <a:off x="6679128" y="4901292"/>
            <a:ext cx="24601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 smtClean="0"/>
              <a:t>Roteiro – Aula Geografia </a:t>
            </a:r>
            <a:endParaRPr lang="pt-BR" sz="2400" dirty="0">
              <a:solidFill>
                <a:srgbClr val="FF0000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871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304800" y="744166"/>
            <a:ext cx="11655188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600" b="1" dirty="0" smtClean="0">
                <a:latin typeface="Gadugi" panose="020B0502040204020203" pitchFamily="34" charset="0"/>
                <a:ea typeface="Gadugi" panose="020B0502040204020203" pitchFamily="34" charset="0"/>
              </a:rPr>
              <a:t>Recursos Didáticos Tecnológicos</a:t>
            </a:r>
          </a:p>
          <a:p>
            <a:endParaRPr lang="pt-BR" sz="36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 smtClean="0"/>
              <a:t>Ferramentas </a:t>
            </a:r>
            <a:r>
              <a:rPr lang="pt-BR" sz="2800" dirty="0"/>
              <a:t>de Mapeamento e Visualização Geográfica </a:t>
            </a:r>
            <a:r>
              <a:rPr lang="pt-BR" sz="2800" dirty="0" smtClean="0"/>
              <a:t>:</a:t>
            </a:r>
            <a:r>
              <a:rPr lang="pt-BR" sz="3600" dirty="0"/>
              <a:t/>
            </a:r>
            <a:br>
              <a:rPr lang="pt-BR" sz="3600" dirty="0"/>
            </a:br>
            <a:endParaRPr lang="pt-BR" sz="3500" dirty="0" smtClean="0">
              <a:solidFill>
                <a:srgbClr val="FF0000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1026" name="Picture 2" descr="Google atualiza Earth e Maps com imagens muito mais nítidas da superfície  terrestre; veja fotos - Tudocelular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733" y="2600482"/>
            <a:ext cx="2821295" cy="176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: Google Maps agora informa a qualidade do ar - Olhar Digita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72" y="4770307"/>
            <a:ext cx="1897615" cy="1707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onitor Dell Touch Screen 4K de 75” C7520Q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444" y="2765945"/>
            <a:ext cx="5686425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6534467" y="5813946"/>
            <a:ext cx="16023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Tela Interativa</a:t>
            </a:r>
            <a:endParaRPr lang="pt-BR" sz="2400" dirty="0">
              <a:solidFill>
                <a:srgbClr val="FF0000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35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301681" y="691914"/>
            <a:ext cx="1165518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600" b="1" dirty="0" smtClean="0">
                <a:latin typeface="Gadugi" panose="020B0502040204020203" pitchFamily="34" charset="0"/>
                <a:ea typeface="Gadugi" panose="020B0502040204020203" pitchFamily="34" charset="0"/>
              </a:rPr>
              <a:t>Recursos Didáticos Tecnológicos</a:t>
            </a:r>
          </a:p>
          <a:p>
            <a:endParaRPr lang="pt-BR" sz="3600" dirty="0" smtClean="0"/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pt-BR" sz="2800" dirty="0" smtClean="0"/>
              <a:t>Ferramentas </a:t>
            </a:r>
            <a:r>
              <a:rPr lang="pt-BR" sz="2800" dirty="0"/>
              <a:t>de Mapeamento e Visualização Geográfica </a:t>
            </a:r>
            <a:r>
              <a:rPr lang="pt-BR" sz="2800" dirty="0" smtClean="0"/>
              <a:t>:</a:t>
            </a:r>
            <a:r>
              <a:rPr lang="pt-BR" sz="3600" dirty="0"/>
              <a:t/>
            </a:r>
            <a:br>
              <a:rPr lang="pt-BR" sz="3600" dirty="0"/>
            </a:br>
            <a:r>
              <a:rPr lang="pt-BR" sz="3600" dirty="0" smtClean="0">
                <a:solidFill>
                  <a:srgbClr val="FF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- </a:t>
            </a:r>
            <a:r>
              <a:rPr lang="pt-BR" sz="2800" dirty="0" smtClean="0">
                <a:solidFill>
                  <a:srgbClr val="FF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Coordenadas</a:t>
            </a:r>
            <a:r>
              <a:rPr lang="pt-BR" sz="3600" dirty="0" smtClean="0">
                <a:solidFill>
                  <a:srgbClr val="FF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rgbClr val="FF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48°51'29"N </a:t>
            </a:r>
            <a:r>
              <a:rPr lang="pt-BR" sz="2400" dirty="0">
                <a:solidFill>
                  <a:srgbClr val="FF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2°17'39"E Torre Eiffel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51°10'43"N 1°49'34"W Stonehenge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13°09'49"S 72°32'42"W Machu Picchu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29°58'38"N 31°07'57"E </a:t>
            </a:r>
            <a:r>
              <a:rPr lang="pt-BR" sz="2400" dirty="0" err="1">
                <a:solidFill>
                  <a:srgbClr val="FF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Piramedis</a:t>
            </a:r>
            <a:r>
              <a:rPr lang="pt-BR" sz="2400" dirty="0">
                <a:solidFill>
                  <a:srgbClr val="FF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de Gizé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25°06'52"N 55°08'17"E Palmeira </a:t>
            </a:r>
            <a:r>
              <a:rPr lang="pt-BR" sz="2400" dirty="0" err="1">
                <a:solidFill>
                  <a:srgbClr val="FF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Jumeirah</a:t>
            </a:r>
            <a:endParaRPr lang="pt-BR" sz="2400" dirty="0">
              <a:solidFill>
                <a:srgbClr val="FF0000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36°07'16"N 115°09'43"W </a:t>
            </a:r>
            <a:r>
              <a:rPr lang="pt-BR" sz="2400" dirty="0" err="1">
                <a:solidFill>
                  <a:srgbClr val="FF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Sphere</a:t>
            </a:r>
            <a:endParaRPr lang="pt-BR" sz="2400" dirty="0" smtClean="0">
              <a:solidFill>
                <a:srgbClr val="FF0000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503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6984274" y="143275"/>
            <a:ext cx="51380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600" b="1" dirty="0" smtClean="0">
                <a:latin typeface="Gadugi" panose="020B0502040204020203" pitchFamily="34" charset="0"/>
                <a:ea typeface="Gadugi" panose="020B0502040204020203" pitchFamily="34" charset="0"/>
              </a:rPr>
              <a:t>Recursos Tecnológicos</a:t>
            </a:r>
          </a:p>
        </p:txBody>
      </p:sp>
      <p:pic>
        <p:nvPicPr>
          <p:cNvPr id="7" name="Picture 4" descr="Os segredos dos líderes de sucesso: como ser um líder 'hands on', delegar  com eficácia 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411" y="1681479"/>
            <a:ext cx="7889965" cy="4431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747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304800" y="744166"/>
            <a:ext cx="11655188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600" b="1" dirty="0" smtClean="0">
                <a:latin typeface="Gadugi" panose="020B0502040204020203" pitchFamily="34" charset="0"/>
                <a:ea typeface="Gadugi" panose="020B0502040204020203" pitchFamily="34" charset="0"/>
              </a:rPr>
              <a:t>Recursos Didáticos Tecnológicos</a:t>
            </a:r>
          </a:p>
          <a:p>
            <a:endParaRPr lang="pt-BR" sz="36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 smtClean="0"/>
              <a:t>Robótica Educacional :</a:t>
            </a:r>
            <a:r>
              <a:rPr lang="pt-BR" sz="3600" dirty="0"/>
              <a:t/>
            </a:r>
            <a:br>
              <a:rPr lang="pt-BR" sz="3600" dirty="0"/>
            </a:br>
            <a:endParaRPr lang="pt-BR" sz="3500" dirty="0" smtClean="0">
              <a:solidFill>
                <a:srgbClr val="FF0000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4102" name="Picture 6" descr="Arduino – Wikipédia, a enciclopédia liv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232" y="2712403"/>
            <a:ext cx="4455752" cy="2827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2773640" y="5540092"/>
            <a:ext cx="934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 smtClean="0"/>
              <a:t>Arduino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5863988" y="2712403"/>
            <a:ext cx="537877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 smtClean="0"/>
              <a:t>Uma </a:t>
            </a:r>
            <a:r>
              <a:rPr lang="pt-BR" dirty="0"/>
              <a:t>plataforma de prototipagem eletrônica de código aberto, composta por uma placa física programável e um ambiente de desenvolvimento (IDE</a:t>
            </a:r>
            <a:r>
              <a:rPr lang="pt-BR" dirty="0" smtClean="0"/>
              <a:t>)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5863988" y="4218975"/>
            <a:ext cx="55268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/>
              <a:t>É</a:t>
            </a:r>
            <a:r>
              <a:rPr lang="pt-BR" dirty="0" smtClean="0"/>
              <a:t> </a:t>
            </a:r>
            <a:r>
              <a:rPr lang="pt-BR" dirty="0"/>
              <a:t>relativamente barato, fácil de usar e possui uma vasta comunidade online, o que facilita o aprendizado e a busca por </a:t>
            </a:r>
            <a:r>
              <a:rPr lang="pt-BR" dirty="0" smtClean="0"/>
              <a:t>projetos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5932097" y="6099733"/>
            <a:ext cx="2913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4"/>
              </a:rPr>
              <a:t>https://www.tinkercad.com</a:t>
            </a:r>
            <a:r>
              <a:rPr lang="pt-BR" dirty="0" smtClean="0">
                <a:hlinkClick r:id="rId4"/>
              </a:rPr>
              <a:t>/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5981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304800" y="744166"/>
            <a:ext cx="11655188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600" b="1" dirty="0" smtClean="0">
                <a:latin typeface="Gadugi" panose="020B0502040204020203" pitchFamily="34" charset="0"/>
                <a:ea typeface="Gadugi" panose="020B0502040204020203" pitchFamily="34" charset="0"/>
              </a:rPr>
              <a:t>Recursos Didáticos Tecnológicos</a:t>
            </a:r>
          </a:p>
          <a:p>
            <a:endParaRPr lang="pt-BR" sz="36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 smtClean="0"/>
              <a:t>Robótica Educacional:</a:t>
            </a:r>
            <a:r>
              <a:rPr lang="pt-BR" sz="3600" dirty="0"/>
              <a:t/>
            </a:r>
            <a:br>
              <a:rPr lang="pt-BR" sz="3600" dirty="0"/>
            </a:br>
            <a:endParaRPr lang="pt-BR" sz="3500" dirty="0" smtClean="0">
              <a:solidFill>
                <a:srgbClr val="FF0000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7170" name="Picture 2" descr="Kit Arduino | Sensor Ultrassônic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397" y="2552701"/>
            <a:ext cx="3023055" cy="38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Módulo Ultrassom Hc-sr04 Hcsr04 Arduino Sensor Ultrassonic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818" y="2542358"/>
            <a:ext cx="2955562" cy="2827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/>
          <p:cNvSpPr/>
          <p:nvPr/>
        </p:nvSpPr>
        <p:spPr>
          <a:xfrm>
            <a:off x="2071866" y="5370047"/>
            <a:ext cx="2029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Sensor Ultrassônico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8315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304800" y="744166"/>
            <a:ext cx="11655188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600" b="1" dirty="0" smtClean="0">
                <a:latin typeface="Gadugi" panose="020B0502040204020203" pitchFamily="34" charset="0"/>
                <a:ea typeface="Gadugi" panose="020B0502040204020203" pitchFamily="34" charset="0"/>
              </a:rPr>
              <a:t>Recursos Didáticos Tecnológicos</a:t>
            </a:r>
          </a:p>
          <a:p>
            <a:endParaRPr lang="pt-BR" sz="36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 smtClean="0"/>
              <a:t>Robótica Educacional :</a:t>
            </a:r>
            <a:r>
              <a:rPr lang="pt-BR" sz="3600" dirty="0"/>
              <a:t/>
            </a:r>
            <a:br>
              <a:rPr lang="pt-BR" sz="3600" dirty="0"/>
            </a:br>
            <a:endParaRPr lang="pt-BR" sz="3500" dirty="0" smtClean="0">
              <a:solidFill>
                <a:srgbClr val="FF0000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136" y="2544596"/>
            <a:ext cx="6364229" cy="363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301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6984274" y="143275"/>
            <a:ext cx="51380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600" b="1" dirty="0" smtClean="0">
                <a:latin typeface="Gadugi" panose="020B0502040204020203" pitchFamily="34" charset="0"/>
                <a:ea typeface="Gadugi" panose="020B0502040204020203" pitchFamily="34" charset="0"/>
              </a:rPr>
              <a:t>Recursos Tecnológicos</a:t>
            </a:r>
          </a:p>
        </p:txBody>
      </p:sp>
      <p:pic>
        <p:nvPicPr>
          <p:cNvPr id="7" name="Picture 4" descr="Os segredos dos líderes de sucesso: como ser um líder 'hands on', delegar  com eficácia 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411" y="1681479"/>
            <a:ext cx="7889965" cy="4431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1484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304800" y="744166"/>
            <a:ext cx="11655188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600" b="1" dirty="0" smtClean="0">
                <a:latin typeface="Gadugi" panose="020B0502040204020203" pitchFamily="34" charset="0"/>
                <a:ea typeface="Gadugi" panose="020B0502040204020203" pitchFamily="34" charset="0"/>
              </a:rPr>
              <a:t>Recursos Didáticos Tecnológicos</a:t>
            </a:r>
          </a:p>
          <a:p>
            <a:endParaRPr lang="pt-BR" sz="36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smtClean="0"/>
              <a:t>Lista de materiais :</a:t>
            </a:r>
          </a:p>
          <a:p>
            <a:r>
              <a:rPr lang="pt-BR" dirty="0" smtClean="0"/>
              <a:t>	1x</a:t>
            </a:r>
            <a:r>
              <a:rPr lang="pt-BR" dirty="0"/>
              <a:t> Placa </a:t>
            </a:r>
            <a:r>
              <a:rPr lang="pt-BR" dirty="0" err="1"/>
              <a:t>Arduino</a:t>
            </a:r>
            <a:r>
              <a:rPr lang="pt-BR" dirty="0"/>
              <a:t> + Cabo USB</a:t>
            </a:r>
          </a:p>
          <a:p>
            <a:r>
              <a:rPr lang="pt-BR" dirty="0" smtClean="0"/>
              <a:t>	1x</a:t>
            </a:r>
            <a:r>
              <a:rPr lang="pt-BR" dirty="0"/>
              <a:t> Sensor Ultrassônico - HC-SR04</a:t>
            </a:r>
          </a:p>
          <a:p>
            <a:r>
              <a:rPr lang="pt-BR" dirty="0" smtClean="0"/>
              <a:t>	Jumpers</a:t>
            </a:r>
          </a:p>
          <a:p>
            <a:endParaRPr lang="pt-BR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smtClean="0"/>
              <a:t>Circuito :</a:t>
            </a:r>
          </a:p>
          <a:p>
            <a:pPr lvl="2"/>
            <a:r>
              <a:rPr lang="pt-BR" dirty="0" smtClean="0"/>
              <a:t>Monte o circuito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smtClean="0"/>
              <a:t>Código :</a:t>
            </a:r>
          </a:p>
          <a:p>
            <a:pPr lvl="1"/>
            <a:r>
              <a:rPr lang="pt-BR" sz="2800" dirty="0"/>
              <a:t>	</a:t>
            </a:r>
            <a:r>
              <a:rPr lang="pt-BR" dirty="0"/>
              <a:t>Carregue o código </a:t>
            </a:r>
            <a:r>
              <a:rPr lang="pt-BR" dirty="0" smtClean="0"/>
              <a:t>em </a:t>
            </a:r>
            <a:r>
              <a:rPr lang="pt-BR" dirty="0"/>
              <a:t>sua placa </a:t>
            </a:r>
            <a:r>
              <a:rPr lang="pt-BR" dirty="0" err="1"/>
              <a:t>Arduino</a:t>
            </a:r>
            <a:endParaRPr lang="pt-BR" sz="2800" dirty="0" smtClean="0"/>
          </a:p>
        </p:txBody>
      </p:sp>
    </p:spTree>
    <p:extLst>
      <p:ext uri="{BB962C8B-B14F-4D97-AF65-F5344CB8AC3E}">
        <p14:creationId xmlns:p14="http://schemas.microsoft.com/office/powerpoint/2010/main" val="8619976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130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Gadugi</vt:lpstr>
      <vt:lpstr>Tema do Office</vt:lpstr>
      <vt:lpstr>Recursos Didáticos Tecnológicas   Laboratório de Metodologias Ativas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Regina Allpine Rosa</dc:creator>
  <cp:lastModifiedBy>Unifebe</cp:lastModifiedBy>
  <cp:revision>22</cp:revision>
  <dcterms:created xsi:type="dcterms:W3CDTF">2017-02-02T12:41:08Z</dcterms:created>
  <dcterms:modified xsi:type="dcterms:W3CDTF">2025-04-29T00:41:34Z</dcterms:modified>
</cp:coreProperties>
</file>